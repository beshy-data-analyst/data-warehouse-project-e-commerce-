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6" r:id="rId10"/>
    <p:sldId id="287" r:id="rId11"/>
    <p:sldId id="288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960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872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5207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242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25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9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821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605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9176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16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4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030E9-5956-D568-6BDB-5EC2786A2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7818" r="-1" b="7890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D8C2D0-D617-7BCF-FF31-7DD039D13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238" y="1145080"/>
            <a:ext cx="9090476" cy="2179601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Data warehousing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BD028-897D-C7C0-E11D-1BA170F72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117" y="3244244"/>
            <a:ext cx="4355494" cy="3473797"/>
          </a:xfrm>
        </p:spPr>
        <p:txBody>
          <a:bodyPr anchor="t">
            <a:normAutofit fontScale="92500" lnSpcReduction="20000"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  <a:p>
            <a:pPr algn="ctr"/>
            <a:r>
              <a:rPr lang="en-US" sz="3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Prepared by:</a:t>
            </a:r>
          </a:p>
          <a:p>
            <a:pPr algn="ctr"/>
            <a:r>
              <a:rPr lang="en-US" sz="2100" b="1" dirty="0">
                <a:solidFill>
                  <a:srgbClr val="FFFF00"/>
                </a:solidFill>
              </a:rPr>
              <a:t>Team Name: </a:t>
            </a:r>
            <a:r>
              <a:rPr lang="en-US" sz="2100" b="1" dirty="0"/>
              <a:t>Digital Pioneers</a:t>
            </a:r>
          </a:p>
          <a:p>
            <a:pPr algn="ctr"/>
            <a:br>
              <a:rPr lang="en-US" sz="2100" b="1" dirty="0"/>
            </a:br>
            <a:r>
              <a:rPr lang="en-US" b="1" dirty="0">
                <a:solidFill>
                  <a:srgbClr val="FFFFFF"/>
                </a:solidFill>
              </a:rPr>
              <a:t>Beshoy Karam (Team Leader)</a:t>
            </a:r>
          </a:p>
          <a:p>
            <a:pPr algn="ctr"/>
            <a:r>
              <a:rPr lang="en-US" b="1">
                <a:solidFill>
                  <a:srgbClr val="FFFFFF"/>
                </a:solidFill>
              </a:rPr>
              <a:t>Fady Emad</a:t>
            </a:r>
            <a:endParaRPr lang="en-US" b="1" dirty="0">
              <a:solidFill>
                <a:srgbClr val="FFFFFF"/>
              </a:solidFill>
            </a:endParaRPr>
          </a:p>
          <a:p>
            <a:pPr algn="ctr"/>
            <a:r>
              <a:rPr lang="en-US" b="1" dirty="0">
                <a:solidFill>
                  <a:srgbClr val="FFFFFF"/>
                </a:solidFill>
              </a:rPr>
              <a:t>Adel Emad</a:t>
            </a:r>
          </a:p>
          <a:p>
            <a:pPr algn="ctr"/>
            <a:r>
              <a:rPr lang="en-US" b="1" dirty="0">
                <a:solidFill>
                  <a:srgbClr val="FFFFFF"/>
                </a:solidFill>
              </a:rPr>
              <a:t>Ahd Montasser</a:t>
            </a:r>
          </a:p>
          <a:p>
            <a:pPr algn="ctr"/>
            <a:r>
              <a:rPr lang="en-US" b="1" dirty="0">
                <a:solidFill>
                  <a:srgbClr val="FFFFFF"/>
                </a:solidFill>
              </a:rPr>
              <a:t>Shahd Hussein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491506" y="-615180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516668"/>
            <a:ext cx="4187283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969850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4FD7601-17C0-E50D-FED3-C5C36080BAC8}"/>
              </a:ext>
            </a:extLst>
          </p:cNvPr>
          <p:cNvSpPr txBox="1"/>
          <p:nvPr/>
        </p:nvSpPr>
        <p:spPr>
          <a:xfrm>
            <a:off x="8292611" y="5712915"/>
            <a:ext cx="3980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Dr: Wesam Ahmed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3E2BF31-D4B9-C7DE-E1DB-54B0FB19C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Pioneers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26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6BFD-7E32-46B7-008B-8080B08D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Content: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1C856-66C6-04C9-2451-53F702821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678579"/>
            <a:ext cx="10077557" cy="3824858"/>
          </a:xfrm>
        </p:spPr>
        <p:txBody>
          <a:bodyPr>
            <a:normAutofit/>
          </a:bodyPr>
          <a:lstStyle/>
          <a:p>
            <a:r>
              <a:rPr lang="en-US" sz="2400" b="1" dirty="0"/>
              <a:t>1. Introduction: The "Business Case“.</a:t>
            </a:r>
          </a:p>
          <a:p>
            <a:r>
              <a:rPr lang="en-US" sz="2400" b="1" dirty="0"/>
              <a:t>2. The Data Architecture (The "How").</a:t>
            </a:r>
          </a:p>
          <a:p>
            <a:r>
              <a:rPr lang="en-US" sz="2400" b="1" dirty="0"/>
              <a:t>3. The Data Model (The "Logic").</a:t>
            </a:r>
          </a:p>
          <a:p>
            <a:r>
              <a:rPr lang="en-US" sz="2400" b="1" dirty="0"/>
              <a:t>4. Analysis &amp; Power BI (The "Insight").</a:t>
            </a:r>
          </a:p>
          <a:p>
            <a:r>
              <a:rPr lang="en-US" sz="2400" b="1" dirty="0"/>
              <a:t>5. Screens from Our Project.</a:t>
            </a:r>
          </a:p>
          <a:p>
            <a:r>
              <a:rPr lang="en-US" sz="2400" b="1" dirty="0"/>
              <a:t>6. Conclusion &amp;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9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94C0-C8B3-862B-6902-9F59897F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Introduction: </a:t>
            </a:r>
            <a:r>
              <a:rPr lang="en-US" b="1" dirty="0">
                <a:solidFill>
                  <a:srgbClr val="0070C0"/>
                </a:solidFill>
              </a:rPr>
              <a:t>The "Business Case"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06365B-674C-4674-B283-32FC56F06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5"/>
            <a:ext cx="10077557" cy="4242809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Problem Statement: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Traditionally, sales data in Excel is "flat" and "static." It lacks historical tracking and makes it difficult to see relationships between different entities (like how a specific category performs across different months).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The Goal: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To transition from </a:t>
            </a:r>
            <a:r>
              <a:rPr lang="en-US" altLang="en-US" b="1" dirty="0">
                <a:latin typeface="Arial" panose="020B0604020202020204" pitchFamily="34" charset="0"/>
              </a:rPr>
              <a:t>Operational Data</a:t>
            </a:r>
            <a:r>
              <a:rPr lang="en-US" altLang="en-US" dirty="0">
                <a:latin typeface="Arial" panose="020B0604020202020204" pitchFamily="34" charset="0"/>
              </a:rPr>
              <a:t> (Excel) to </a:t>
            </a:r>
            <a:r>
              <a:rPr lang="en-US" altLang="en-US" b="1" dirty="0">
                <a:latin typeface="Arial" panose="020B0604020202020204" pitchFamily="34" charset="0"/>
              </a:rPr>
              <a:t>Analytical Data</a:t>
            </a:r>
            <a:r>
              <a:rPr lang="en-US" altLang="en-US" dirty="0">
                <a:latin typeface="Arial" panose="020B0604020202020204" pitchFamily="34" charset="0"/>
              </a:rPr>
              <a:t> (Data Warehouse).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</a:rPr>
              <a:t>Define exactly what you are measuring:</a:t>
            </a:r>
          </a:p>
          <a:p>
            <a:r>
              <a:rPr lang="en-US" b="1" dirty="0">
                <a:latin typeface="Arial" panose="020B0604020202020204" pitchFamily="34" charset="0"/>
              </a:rPr>
              <a:t>Gross Profit: </a:t>
            </a:r>
            <a:r>
              <a:rPr lang="en-US" dirty="0">
                <a:latin typeface="Arial" panose="020B0604020202020204" pitchFamily="34" charset="0"/>
              </a:rPr>
              <a:t>Total Sales - Cost of Goods Sold (COGS).</a:t>
            </a:r>
          </a:p>
          <a:p>
            <a:r>
              <a:rPr lang="en-US" b="1" dirty="0">
                <a:latin typeface="Arial" panose="020B0604020202020204" pitchFamily="34" charset="0"/>
              </a:rPr>
              <a:t>Sales Volume:</a:t>
            </a:r>
            <a:r>
              <a:rPr lang="en-US" dirty="0">
                <a:latin typeface="Arial" panose="020B0604020202020204" pitchFamily="34" charset="0"/>
              </a:rPr>
              <a:t> Total units (pieces) sold.</a:t>
            </a:r>
          </a:p>
          <a:p>
            <a:r>
              <a:rPr lang="en-US" b="1" dirty="0">
                <a:latin typeface="Arial" panose="020B0604020202020204" pitchFamily="34" charset="0"/>
              </a:rPr>
              <a:t>Product Penetration: </a:t>
            </a:r>
            <a:r>
              <a:rPr lang="en-US" dirty="0">
                <a:latin typeface="Arial" panose="020B0604020202020204" pitchFamily="34" charset="0"/>
              </a:rPr>
              <a:t>Which products are moving the fastest.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75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430EA-886B-E21A-2173-F49A9AA7C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The Data Architecture </a:t>
            </a:r>
            <a:r>
              <a:rPr lang="en-US" b="1" dirty="0">
                <a:solidFill>
                  <a:srgbClr val="0070C0"/>
                </a:solidFill>
              </a:rPr>
              <a:t>(The "How")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B1B94-D7E2-3E38-A0D8-24B5D6FCE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381925"/>
            <a:ext cx="10643026" cy="4401430"/>
          </a:xfrm>
        </p:spPr>
        <p:txBody>
          <a:bodyPr>
            <a:normAutofit/>
          </a:bodyPr>
          <a:lstStyle/>
          <a:p>
            <a:r>
              <a:rPr lang="en-US" b="1" dirty="0"/>
              <a:t>In this part we will describe the ETL process (</a:t>
            </a:r>
            <a:r>
              <a:rPr lang="en-US" b="1" dirty="0">
                <a:solidFill>
                  <a:srgbClr val="0070C0"/>
                </a:solidFill>
              </a:rPr>
              <a:t>Extract, Transform, Load</a:t>
            </a:r>
            <a:r>
              <a:rPr lang="en-US" b="1" dirty="0"/>
              <a:t>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Data Source Layer:</a:t>
            </a:r>
            <a:r>
              <a:rPr lang="en-US" altLang="en-US" dirty="0">
                <a:latin typeface="Arial" panose="020B0604020202020204" pitchFamily="34" charset="0"/>
              </a:rPr>
              <a:t> our8 source was Excel, which represents "unstructured" or "semi-structured" raw business data.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Staging Area (The "Buffer"):</a:t>
            </a:r>
            <a:r>
              <a:rPr lang="en-US" altLang="en-US" dirty="0">
                <a:latin typeface="Arial" panose="020B0604020202020204" pitchFamily="34" charset="0"/>
              </a:rPr>
              <a:t> This is crucial. Tell them you used a staging area to: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Cleanse:</a:t>
            </a:r>
            <a:r>
              <a:rPr lang="en-US" altLang="en-US" dirty="0">
                <a:latin typeface="Arial" panose="020B0604020202020204" pitchFamily="34" charset="0"/>
              </a:rPr>
              <a:t> Remove null values or fixing "messy" product names.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Standardize:</a:t>
            </a:r>
            <a:r>
              <a:rPr lang="en-US" altLang="en-US" dirty="0">
                <a:latin typeface="Arial" panose="020B0604020202020204" pitchFamily="34" charset="0"/>
              </a:rPr>
              <a:t> Ensure all currency and date formats are uniform before they hit the SQL database.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Data Warehouse Layer (SQL):</a:t>
            </a:r>
            <a:r>
              <a:rPr lang="en-US" altLang="en-US" dirty="0">
                <a:latin typeface="Arial" panose="020B0604020202020204" pitchFamily="34" charset="0"/>
              </a:rPr>
              <a:t> This is the permanent, structured storage where data is optimized for reading and reporting, not just storage.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09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ata Warehouse Architecture diagram showing Source, Staging, and Data Warehouse">
            <a:extLst>
              <a:ext uri="{FF2B5EF4-FFF2-40B4-BE49-F238E27FC236}">
                <a16:creationId xmlns:a16="http://schemas.microsoft.com/office/drawing/2014/main" id="{3BCA7715-4298-EAA4-F593-61C40F85F6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206" y="372494"/>
            <a:ext cx="7133587" cy="611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59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27E5-E825-5D44-DEDC-16804071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66" y="167951"/>
            <a:ext cx="10077557" cy="918313"/>
          </a:xfrm>
        </p:spPr>
        <p:txBody>
          <a:bodyPr/>
          <a:lstStyle/>
          <a:p>
            <a:pPr algn="ctr"/>
            <a:r>
              <a:rPr lang="en-US" b="1" dirty="0"/>
              <a:t>3. The Data Model (The "Logic")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CB95F-740F-1095-ED4E-22BBA805C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098" y="1183686"/>
            <a:ext cx="10646183" cy="1018337"/>
          </a:xfrm>
        </p:spPr>
        <p:txBody>
          <a:bodyPr>
            <a:normAutofit/>
          </a:bodyPr>
          <a:lstStyle/>
          <a:p>
            <a:r>
              <a:rPr lang="en-US" dirty="0"/>
              <a:t>Our data model follows a </a:t>
            </a:r>
            <a:r>
              <a:rPr lang="en-US" b="1" dirty="0"/>
              <a:t>Star Schema</a:t>
            </a:r>
            <a:r>
              <a:rPr lang="en-US" dirty="0"/>
              <a:t> architecture, designed to optimize query performance and simplify the analytical process within Power BI.</a:t>
            </a: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FD529C6-F260-671A-B5EE-EF3931BA9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1928" y="1921535"/>
            <a:ext cx="8788144" cy="493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61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AB5C-C763-D3A0-D90F-3E93C911A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A. The Central Fact Table: </a:t>
            </a:r>
            <a:r>
              <a:rPr lang="en-US" b="1" dirty="0" err="1"/>
              <a:t>dwh_fact_orders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FE34-75D1-1FC2-D9F1-715CFF52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8" y="2521884"/>
            <a:ext cx="10717670" cy="4140173"/>
          </a:xfrm>
        </p:spPr>
        <p:txBody>
          <a:bodyPr>
            <a:normAutofit/>
          </a:bodyPr>
          <a:lstStyle/>
          <a:p>
            <a:r>
              <a:rPr lang="en-US" dirty="0"/>
              <a:t>This is the core of our warehouse. It captures every business event (an order) and stores the numerical data we need for calculation.</a:t>
            </a:r>
          </a:p>
          <a:p>
            <a:r>
              <a:rPr lang="en-US" b="1" dirty="0"/>
              <a:t>Keys for Integration:</a:t>
            </a:r>
            <a:r>
              <a:rPr lang="en-US" dirty="0"/>
              <a:t> It contains Foreign Keys such as 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date_id</a:t>
            </a:r>
            <a:r>
              <a:rPr lang="en-US" dirty="0"/>
              <a:t>, </a:t>
            </a:r>
            <a:r>
              <a:rPr lang="en-US" dirty="0" err="1"/>
              <a:t>product_id</a:t>
            </a:r>
            <a:r>
              <a:rPr lang="en-US" dirty="0"/>
              <a:t>, and </a:t>
            </a:r>
            <a:r>
              <a:rPr lang="en-US" dirty="0" err="1"/>
              <a:t>region_id</a:t>
            </a:r>
            <a:r>
              <a:rPr lang="en-US" dirty="0"/>
              <a:t> to connect with our descriptive dimensions.</a:t>
            </a:r>
          </a:p>
          <a:p>
            <a:r>
              <a:rPr lang="en-US" b="1" dirty="0"/>
              <a:t>Core Metrics:</a:t>
            </a:r>
            <a:r>
              <a:rPr lang="en-US" dirty="0"/>
              <a:t> We store the fundamental values here: price, quantity, and discount.</a:t>
            </a:r>
          </a:p>
          <a:p>
            <a:r>
              <a:rPr lang="en-US" b="1" dirty="0"/>
              <a:t>Derived Logic:</a:t>
            </a:r>
            <a:r>
              <a:rPr lang="en-US" dirty="0"/>
              <a:t> We included a </a:t>
            </a:r>
            <a:r>
              <a:rPr lang="en-US" dirty="0" err="1"/>
              <a:t>profit_margin</a:t>
            </a:r>
            <a:r>
              <a:rPr lang="en-US" dirty="0"/>
              <a:t> field directly in the fact table to allow for immediate profitability analysis without complex runtime calculations.</a:t>
            </a:r>
          </a:p>
          <a:p>
            <a:r>
              <a:rPr lang="en-US" b="1" dirty="0"/>
              <a:t>Granularity:</a:t>
            </a:r>
            <a:r>
              <a:rPr lang="en-US" dirty="0"/>
              <a:t> The "grain" of this table is a </a:t>
            </a:r>
            <a:r>
              <a:rPr lang="en-US" b="1" dirty="0"/>
              <a:t>single order line item</a:t>
            </a:r>
            <a:r>
              <a:rPr lang="en-US" dirty="0"/>
              <a:t>, ensuring we can aggregate data up to any level (e.g., total sales by region or average profit by customer gender).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42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0458-D37E-7F93-F2B5-B6148A3FF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9" y="787070"/>
            <a:ext cx="11939981" cy="1325563"/>
          </a:xfrm>
        </p:spPr>
        <p:txBody>
          <a:bodyPr>
            <a:normAutofit/>
          </a:bodyPr>
          <a:lstStyle/>
          <a:p>
            <a:r>
              <a:rPr lang="en-US" b="1" dirty="0"/>
              <a:t>B. The Dimension Tables (The Descriptive Entities)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B8D5-CD14-57BC-34D0-44A3C170A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18" y="2409917"/>
            <a:ext cx="11369306" cy="43734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created five distinct dimension tables to provide context to our order data:</a:t>
            </a:r>
          </a:p>
          <a:p>
            <a:r>
              <a:rPr lang="en-US" b="1" dirty="0" err="1"/>
              <a:t>dwh_dim_date</a:t>
            </a:r>
            <a:r>
              <a:rPr lang="en-US" b="1" dirty="0"/>
              <a:t>:</a:t>
            </a:r>
            <a:r>
              <a:rPr lang="en-US" dirty="0"/>
              <a:t> Enables time-series analysis through attributes like day, month, weekday, and year. This allows us to track "Pieces Sold" over specific calendar periods.</a:t>
            </a:r>
          </a:p>
          <a:p>
            <a:r>
              <a:rPr lang="en-US" b="1" dirty="0" err="1"/>
              <a:t>dwh_dim_product</a:t>
            </a:r>
            <a:r>
              <a:rPr lang="en-US" b="1" dirty="0"/>
              <a:t>:</a:t>
            </a:r>
            <a:r>
              <a:rPr lang="en-US" dirty="0"/>
              <a:t> Stores product metadata, specifically category. This is essential for identifying which product lines are the most profitable.</a:t>
            </a:r>
          </a:p>
          <a:p>
            <a:r>
              <a:rPr lang="en-US" b="1" dirty="0" err="1"/>
              <a:t>dwh_dim_customer</a:t>
            </a:r>
            <a:r>
              <a:rPr lang="en-US" b="1" dirty="0"/>
              <a:t>:</a:t>
            </a:r>
            <a:r>
              <a:rPr lang="en-US" dirty="0"/>
              <a:t> Contains demographic data like </a:t>
            </a:r>
            <a:r>
              <a:rPr lang="en-US" dirty="0" err="1"/>
              <a:t>customer_age</a:t>
            </a:r>
            <a:r>
              <a:rPr lang="en-US" dirty="0"/>
              <a:t> and </a:t>
            </a:r>
            <a:r>
              <a:rPr lang="en-US" dirty="0" err="1"/>
              <a:t>customer_gender</a:t>
            </a:r>
            <a:r>
              <a:rPr lang="en-US" dirty="0"/>
              <a:t>, allowing us to see which audience segments are buying the most pieces.</a:t>
            </a:r>
          </a:p>
          <a:p>
            <a:r>
              <a:rPr lang="en-US" b="1" dirty="0" err="1"/>
              <a:t>dwh_dim_region</a:t>
            </a:r>
            <a:r>
              <a:rPr lang="en-US" b="1" dirty="0"/>
              <a:t>:</a:t>
            </a:r>
            <a:r>
              <a:rPr lang="en-US" dirty="0"/>
              <a:t> Organized by </a:t>
            </a:r>
            <a:r>
              <a:rPr lang="en-US" dirty="0" err="1"/>
              <a:t>region_id</a:t>
            </a:r>
            <a:r>
              <a:rPr lang="en-US" dirty="0"/>
              <a:t> and </a:t>
            </a:r>
            <a:r>
              <a:rPr lang="en-US" dirty="0" err="1"/>
              <a:t>region_name</a:t>
            </a:r>
            <a:r>
              <a:rPr lang="en-US" dirty="0"/>
              <a:t> to visualize geographic sales performance.</a:t>
            </a:r>
          </a:p>
          <a:p>
            <a:r>
              <a:rPr lang="en-US" b="1" dirty="0" err="1"/>
              <a:t>dwh_dim_payment</a:t>
            </a:r>
            <a:r>
              <a:rPr lang="en-US" b="1" dirty="0"/>
              <a:t>:</a:t>
            </a:r>
            <a:r>
              <a:rPr lang="en-US" dirty="0"/>
              <a:t> Tracks the </a:t>
            </a:r>
            <a:r>
              <a:rPr lang="en-US" dirty="0" err="1"/>
              <a:t>payment_method</a:t>
            </a:r>
            <a:r>
              <a:rPr lang="en-US" dirty="0"/>
              <a:t> used for each order, helping us understand customer purchasing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60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55B2-9BC7-4946-0A12-C4ADBBB1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C. Relationship Logic &amp; Schema Integrity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E18B7-D177-8A5B-DBC8-04C681374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5"/>
            <a:ext cx="10950936" cy="4130842"/>
          </a:xfrm>
        </p:spPr>
        <p:txBody>
          <a:bodyPr>
            <a:normAutofit/>
          </a:bodyPr>
          <a:lstStyle/>
          <a:p>
            <a:r>
              <a:rPr lang="en-US" b="1" dirty="0"/>
              <a:t>Star Schema Efficiency: </a:t>
            </a:r>
            <a:r>
              <a:rPr lang="en-US" dirty="0"/>
              <a:t>As seen in our model diagram, the </a:t>
            </a:r>
            <a:r>
              <a:rPr lang="en-US" dirty="0" err="1"/>
              <a:t>dwh_fact_orders</a:t>
            </a:r>
            <a:r>
              <a:rPr lang="en-US" dirty="0"/>
              <a:t> table is at the center, surrounded by dimensions. This reduces the number of "joins" needed, making the Power BI dashboard faster.</a:t>
            </a:r>
          </a:p>
          <a:p>
            <a:r>
              <a:rPr lang="en-US" b="1" dirty="0"/>
              <a:t>1:N (One-to-Many) Relationships: </a:t>
            </a:r>
            <a:r>
              <a:rPr lang="en-US" dirty="0"/>
              <a:t>We established 1:N relationships between the dimensions and the fact table. For example, one entry in </a:t>
            </a:r>
            <a:r>
              <a:rPr lang="en-US" dirty="0" err="1"/>
              <a:t>dwh_dim_product</a:t>
            </a:r>
            <a:r>
              <a:rPr lang="en-US" dirty="0"/>
              <a:t> can relate to many rows in </a:t>
            </a:r>
            <a:r>
              <a:rPr lang="en-US" dirty="0" err="1"/>
              <a:t>dwh_fact_orders</a:t>
            </a:r>
            <a:r>
              <a:rPr lang="en-US" dirty="0"/>
              <a:t>.</a:t>
            </a:r>
          </a:p>
          <a:p>
            <a:r>
              <a:rPr lang="en-US" b="1" dirty="0"/>
              <a:t>Directional Filtering: </a:t>
            </a:r>
            <a:r>
              <a:rPr lang="en-US" dirty="0"/>
              <a:t>The filters flow from the Dimension tables to the Fact table (represented by the arrows in the diagram). This ensures that when we select a specific "Category" in our dashboard, it correctly filters the "Total Profit" in our Fact 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27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E111-C7E8-976E-E043-FF7A50E9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Analysis &amp; Power BI (The "Insight“)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59516-CEDD-E2AF-1E08-C6E2B064D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08498"/>
            <a:ext cx="10077557" cy="1732874"/>
          </a:xfrm>
        </p:spPr>
        <p:txBody>
          <a:bodyPr/>
          <a:lstStyle/>
          <a:p>
            <a:pPr algn="ctr"/>
            <a:r>
              <a:rPr lang="en-US" dirty="0"/>
              <a:t>In this phase, </a:t>
            </a:r>
            <a:r>
              <a:rPr lang="en-US" b="1" dirty="0"/>
              <a:t>we transformed the structured data from our SQL Warehouse into a visual "Semantic Layer." </a:t>
            </a:r>
            <a:r>
              <a:rPr lang="en-US" dirty="0"/>
              <a:t>This allows stakeholders to move from viewing rows of data to identifying business trends instantly.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529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4756-0497-7BFD-42F8-5A84EE0E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A. Core Metrics.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269A0-BD77-5DFD-F366-C61E4EF98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utilized high-level "Card" visualizations to provide an immediate snapshot of the business's health:</a:t>
            </a:r>
          </a:p>
          <a:p>
            <a:r>
              <a:rPr lang="en-US" b="1" dirty="0"/>
              <a:t>Total Revenue:</a:t>
            </a:r>
            <a:r>
              <a:rPr lang="en-US" dirty="0"/>
              <a:t> indicating a high-volume operation.</a:t>
            </a:r>
          </a:p>
          <a:p>
            <a:r>
              <a:rPr lang="en-US" b="1" dirty="0"/>
              <a:t>Profit Performance:</a:t>
            </a:r>
            <a:r>
              <a:rPr lang="en-US" dirty="0"/>
              <a:t> which is our primary indicator of business success beyond just sales.</a:t>
            </a:r>
          </a:p>
          <a:p>
            <a:r>
              <a:rPr lang="en-US" b="1" dirty="0"/>
              <a:t>Inventory Throughput:</a:t>
            </a:r>
            <a:r>
              <a:rPr lang="en-US" dirty="0"/>
              <a:t> helping us understand the scale of physical product movement.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80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2127-9330-516F-437C-29F36697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B. Visual Analysis &amp; Behavioral Trends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35FD3-A39C-C577-127F-14AEB0FEA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409917"/>
            <a:ext cx="10512397" cy="3925568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Demographic Profitability (Line Chart):</a:t>
            </a:r>
            <a:r>
              <a:rPr lang="en-US" altLang="en-US" dirty="0">
                <a:latin typeface="Arial" panose="020B0604020202020204" pitchFamily="34" charset="0"/>
              </a:rPr>
              <a:t> We analyzed the relationship between </a:t>
            </a:r>
            <a:r>
              <a:rPr lang="en-US" altLang="en-US" dirty="0" err="1">
                <a:latin typeface="Arial" panose="020B0604020202020204" pitchFamily="34" charset="0"/>
              </a:rPr>
              <a:t>customer_age</a:t>
            </a:r>
            <a:r>
              <a:rPr lang="en-US" altLang="en-US" dirty="0">
                <a:latin typeface="Arial" panose="020B0604020202020204" pitchFamily="34" charset="0"/>
              </a:rPr>
              <a:t> and sales. This line chart reveals how different age groups contribute to revenue, allowing us to target marketing toward the peaks seen in the data.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Regional Performance (Bar Chart):</a:t>
            </a:r>
            <a:r>
              <a:rPr lang="en-US" altLang="en-US" dirty="0">
                <a:latin typeface="Arial" panose="020B0604020202020204" pitchFamily="34" charset="0"/>
              </a:rPr>
              <a:t> By plotting </a:t>
            </a:r>
            <a:r>
              <a:rPr lang="en-US" altLang="en-US" dirty="0" err="1">
                <a:latin typeface="Arial" panose="020B0604020202020204" pitchFamily="34" charset="0"/>
              </a:rPr>
              <a:t>region_name</a:t>
            </a:r>
            <a:r>
              <a:rPr lang="en-US" altLang="en-US" dirty="0">
                <a:latin typeface="Arial" panose="020B0604020202020204" pitchFamily="34" charset="0"/>
              </a:rPr>
              <a:t>, we discovered that the </a:t>
            </a:r>
            <a:r>
              <a:rPr lang="en-US" altLang="en-US" b="1" dirty="0">
                <a:latin typeface="Arial" panose="020B0604020202020204" pitchFamily="34" charset="0"/>
              </a:rPr>
              <a:t>South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latin typeface="Arial" panose="020B0604020202020204" pitchFamily="34" charset="0"/>
              </a:rPr>
              <a:t>North</a:t>
            </a:r>
            <a:r>
              <a:rPr lang="en-US" altLang="en-US" dirty="0">
                <a:latin typeface="Arial" panose="020B0604020202020204" pitchFamily="34" charset="0"/>
              </a:rPr>
              <a:t> regions are leading in sales, while the </a:t>
            </a:r>
            <a:r>
              <a:rPr lang="en-US" altLang="en-US" b="1" dirty="0">
                <a:latin typeface="Arial" panose="020B0604020202020204" pitchFamily="34" charset="0"/>
              </a:rPr>
              <a:t>Central</a:t>
            </a:r>
            <a:r>
              <a:rPr lang="en-US" altLang="en-US" dirty="0">
                <a:latin typeface="Arial" panose="020B0604020202020204" pitchFamily="34" charset="0"/>
              </a:rPr>
              <a:t> region is currently the lowest performer.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Gender Distribution (Donut Chart):</a:t>
            </a:r>
            <a:r>
              <a:rPr lang="en-US" altLang="en-US" dirty="0">
                <a:latin typeface="Arial" panose="020B0604020202020204" pitchFamily="34" charset="0"/>
              </a:rPr>
              <a:t> Our customer base is almost evenly split, with </a:t>
            </a:r>
            <a:r>
              <a:rPr lang="en-US" altLang="en-US" b="1" dirty="0">
                <a:latin typeface="Arial" panose="020B0604020202020204" pitchFamily="34" charset="0"/>
              </a:rPr>
              <a:t>Females</a:t>
            </a:r>
            <a:r>
              <a:rPr lang="en-US" altLang="en-US" dirty="0">
                <a:latin typeface="Arial" panose="020B0604020202020204" pitchFamily="34" charset="0"/>
              </a:rPr>
              <a:t> slightly outperforming </a:t>
            </a:r>
            <a:r>
              <a:rPr lang="en-US" altLang="en-US" b="1" dirty="0">
                <a:latin typeface="Arial" panose="020B0604020202020204" pitchFamily="34" charset="0"/>
              </a:rPr>
              <a:t>Males</a:t>
            </a:r>
            <a:r>
              <a:rPr lang="en-US" altLang="en-US" dirty="0">
                <a:latin typeface="Arial" panose="020B0604020202020204" pitchFamily="34" charset="0"/>
              </a:rPr>
              <a:t>. This insight is crucial for product procurement and inventory planning.</a:t>
            </a:r>
          </a:p>
        </p:txBody>
      </p:sp>
    </p:spTree>
    <p:extLst>
      <p:ext uri="{BB962C8B-B14F-4D97-AF65-F5344CB8AC3E}">
        <p14:creationId xmlns:p14="http://schemas.microsoft.com/office/powerpoint/2010/main" val="2346093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5B8E-E1FA-097C-4798-DE27C2DD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C. Operational &amp; Payment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04F0-01FC-CD31-2086-83611D3FF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73" y="2593911"/>
            <a:ext cx="10963469" cy="3377681"/>
          </a:xfrm>
        </p:spPr>
        <p:txBody>
          <a:bodyPr>
            <a:normAutofit/>
          </a:bodyPr>
          <a:lstStyle/>
          <a:p>
            <a:r>
              <a:rPr lang="en-US" sz="2400" dirty="0"/>
              <a:t>Integrating the </a:t>
            </a:r>
            <a:r>
              <a:rPr lang="en-US" sz="2400" dirty="0" err="1"/>
              <a:t>dwh_dim_payment</a:t>
            </a:r>
            <a:r>
              <a:rPr lang="en-US" sz="2400" dirty="0"/>
              <a:t> and shipping data allowed us to see how customers interact with the business:</a:t>
            </a:r>
          </a:p>
          <a:p>
            <a:r>
              <a:rPr lang="en-US" sz="2400" b="1" dirty="0"/>
              <a:t>Payment Preferences:</a:t>
            </a:r>
            <a:r>
              <a:rPr lang="en-US" sz="2400" dirty="0"/>
              <a:t> </a:t>
            </a:r>
            <a:r>
              <a:rPr lang="en-US" sz="2400" b="1" dirty="0"/>
              <a:t>Credit Cards</a:t>
            </a:r>
            <a:r>
              <a:rPr lang="en-US" sz="2400" dirty="0"/>
              <a:t> are the dominant payment method.</a:t>
            </a:r>
          </a:p>
          <a:p>
            <a:r>
              <a:rPr lang="en-US" sz="2400" b="1" dirty="0"/>
              <a:t>Shipping Costs by Region:</a:t>
            </a:r>
            <a:r>
              <a:rPr lang="en-US" sz="2400" dirty="0"/>
              <a:t> We tracked the Max of </a:t>
            </a:r>
            <a:r>
              <a:rPr lang="en-US" sz="2400" dirty="0" err="1"/>
              <a:t>shipping_cost</a:t>
            </a:r>
            <a:r>
              <a:rPr lang="en-US" sz="2400" dirty="0"/>
              <a:t> per region.</a:t>
            </a:r>
          </a:p>
          <a:p>
            <a:r>
              <a:rPr lang="en-US" sz="2400" b="1" dirty="0"/>
              <a:t>Discount Impact:</a:t>
            </a:r>
            <a:r>
              <a:rPr lang="en-US" sz="2400" dirty="0"/>
              <a:t> Our analysis shows a sharp decline in sales volume as discount levels increase.</a:t>
            </a:r>
          </a:p>
        </p:txBody>
      </p:sp>
    </p:spTree>
    <p:extLst>
      <p:ext uri="{BB962C8B-B14F-4D97-AF65-F5344CB8AC3E}">
        <p14:creationId xmlns:p14="http://schemas.microsoft.com/office/powerpoint/2010/main" val="273324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E6A2-C628-B635-B8FB-D42B1296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D. Operational Efficiency &amp; 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5D3A5-5AB5-9CE1-0D76-F8D7DBB9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17828"/>
            <a:ext cx="10077557" cy="2721919"/>
          </a:xfrm>
        </p:spPr>
        <p:txBody>
          <a:bodyPr/>
          <a:lstStyle/>
          <a:p>
            <a:r>
              <a:rPr lang="en-US" b="1" dirty="0"/>
              <a:t>Payment Method Impact:</a:t>
            </a:r>
            <a:r>
              <a:rPr lang="en-US" dirty="0"/>
              <a:t> </a:t>
            </a:r>
            <a:r>
              <a:rPr lang="en-US" b="1" dirty="0"/>
              <a:t>Credit Cards.</a:t>
            </a:r>
          </a:p>
          <a:p>
            <a:r>
              <a:rPr lang="en-US" b="1" dirty="0"/>
              <a:t>Logistics Overhead:</a:t>
            </a:r>
            <a:r>
              <a:rPr lang="en-US" dirty="0"/>
              <a:t> identifying a clear area for cost reduction.</a:t>
            </a:r>
          </a:p>
          <a:p>
            <a:r>
              <a:rPr lang="en-US" b="1" dirty="0"/>
              <a:t>Discount Sensitivity:</a:t>
            </a:r>
            <a:r>
              <a:rPr lang="en-US" dirty="0"/>
              <a:t> Our analysis shows that volume peaks at </a:t>
            </a:r>
            <a:r>
              <a:rPr lang="en-US" b="1" dirty="0"/>
              <a:t>18.9K</a:t>
            </a:r>
            <a:r>
              <a:rPr lang="en-US" dirty="0"/>
              <a:t> when discounts are at </a:t>
            </a:r>
            <a:r>
              <a:rPr lang="en-US" b="1" dirty="0"/>
              <a:t>0%</a:t>
            </a:r>
            <a:r>
              <a:rPr lang="en-US" dirty="0"/>
              <a:t>, suggesting that our customers are currently more driven by product value than price-slashing.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440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FA0B7-7760-559C-1424-5B82D9368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364" y="3029962"/>
            <a:ext cx="7517271" cy="798075"/>
          </a:xfrm>
        </p:spPr>
        <p:txBody>
          <a:bodyPr/>
          <a:lstStyle/>
          <a:p>
            <a:pPr algn="ctr"/>
            <a:r>
              <a:rPr lang="en-US" dirty="0"/>
              <a:t>Screens from Our Project.</a:t>
            </a:r>
          </a:p>
        </p:txBody>
      </p:sp>
    </p:spTree>
    <p:extLst>
      <p:ext uri="{BB962C8B-B14F-4D97-AF65-F5344CB8AC3E}">
        <p14:creationId xmlns:p14="http://schemas.microsoft.com/office/powerpoint/2010/main" val="4137703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FE0540-40F6-35DE-F8F0-7B09CBD4F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50" y="530615"/>
            <a:ext cx="10319699" cy="5796770"/>
          </a:xfrm>
        </p:spPr>
      </p:pic>
    </p:spTree>
    <p:extLst>
      <p:ext uri="{BB962C8B-B14F-4D97-AF65-F5344CB8AC3E}">
        <p14:creationId xmlns:p14="http://schemas.microsoft.com/office/powerpoint/2010/main" val="2912660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5259F3-8267-AA4D-37D2-D2413481D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8683" y="459014"/>
            <a:ext cx="10574634" cy="59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07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5D320D-E093-8DA2-3B8F-E6EDD82FD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215" y="314390"/>
            <a:ext cx="11089570" cy="622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636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6DF6E6-283E-0046-9BFC-E03C232F6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18" y="416119"/>
            <a:ext cx="10727364" cy="6025762"/>
          </a:xfrm>
        </p:spPr>
      </p:pic>
    </p:spTree>
    <p:extLst>
      <p:ext uri="{BB962C8B-B14F-4D97-AF65-F5344CB8AC3E}">
        <p14:creationId xmlns:p14="http://schemas.microsoft.com/office/powerpoint/2010/main" val="544743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90A464-EFA3-BAC3-A75E-75C3FEC9E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75" y="446259"/>
            <a:ext cx="10620049" cy="5965481"/>
          </a:xfrm>
        </p:spPr>
      </p:pic>
    </p:spTree>
    <p:extLst>
      <p:ext uri="{BB962C8B-B14F-4D97-AF65-F5344CB8AC3E}">
        <p14:creationId xmlns:p14="http://schemas.microsoft.com/office/powerpoint/2010/main" val="122512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D7A994-4FB9-B424-8D08-E273D2D3A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59" y="312575"/>
            <a:ext cx="11094682" cy="6232849"/>
          </a:xfrm>
        </p:spPr>
      </p:pic>
    </p:spTree>
    <p:extLst>
      <p:ext uri="{BB962C8B-B14F-4D97-AF65-F5344CB8AC3E}">
        <p14:creationId xmlns:p14="http://schemas.microsoft.com/office/powerpoint/2010/main" val="1961799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AE8D52-E174-80B0-2FCD-CE9A2C1D1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33" y="455549"/>
            <a:ext cx="10611533" cy="5946902"/>
          </a:xfrm>
        </p:spPr>
      </p:pic>
    </p:spTree>
    <p:extLst>
      <p:ext uri="{BB962C8B-B14F-4D97-AF65-F5344CB8AC3E}">
        <p14:creationId xmlns:p14="http://schemas.microsoft.com/office/powerpoint/2010/main" val="1151681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6A837B-B644-8D28-3901-F2CCE926D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57" y="374998"/>
            <a:ext cx="10866685" cy="6108004"/>
          </a:xfrm>
        </p:spPr>
      </p:pic>
    </p:spTree>
    <p:extLst>
      <p:ext uri="{BB962C8B-B14F-4D97-AF65-F5344CB8AC3E}">
        <p14:creationId xmlns:p14="http://schemas.microsoft.com/office/powerpoint/2010/main" val="2313353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E88BB-E072-D1A1-2E84-2AC51F2F3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Conclusion &amp; Value.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A5D39-7425-054D-5C32-6EDC50E51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bridged the gap between raw data collection and strategic decision-making.</a:t>
            </a:r>
          </a:p>
          <a:p>
            <a:r>
              <a:rPr lang="en-US" b="1" dirty="0"/>
              <a:t>From Data to Strategy:</a:t>
            </a:r>
            <a:r>
              <a:rPr lang="en-US" dirty="0"/>
              <a:t> We can now see that while we sell many "pieces" in Fashion, our true "profit" engine is the Electronics category.</a:t>
            </a:r>
          </a:p>
          <a:p>
            <a:r>
              <a:rPr lang="en-US" b="1" dirty="0"/>
              <a:t>Scalability:</a:t>
            </a:r>
            <a:r>
              <a:rPr lang="en-US" dirty="0"/>
              <a:t> Because we built this in a </a:t>
            </a:r>
            <a:r>
              <a:rPr lang="en-US" b="1" dirty="0"/>
              <a:t>SQL Star Schema</a:t>
            </a:r>
            <a:r>
              <a:rPr lang="en-US" dirty="0"/>
              <a:t> rather than a flat Excel file, this warehouse can handle future growth without needing to redesign the logic.</a:t>
            </a:r>
          </a:p>
          <a:p>
            <a:r>
              <a:rPr lang="en-US" b="1" dirty="0"/>
              <a:t>Final Impact:</a:t>
            </a:r>
            <a:r>
              <a:rPr lang="en-US" dirty="0"/>
              <a:t> We have created a transparent, automated system that gives the business a </a:t>
            </a:r>
            <a:r>
              <a:rPr lang="en-US" b="1" dirty="0"/>
              <a:t>Single Version of the Truth</a:t>
            </a:r>
            <a:r>
              <a:rPr lang="en-US" dirty="0"/>
              <a:t> for every piece sold and every dollar earned.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837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2EDC2578-BDB0-4118-975D-CFCE0282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63724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3" name="Graphic 78">
              <a:extLst>
                <a:ext uri="{FF2B5EF4-FFF2-40B4-BE49-F238E27FC236}">
                  <a16:creationId xmlns:a16="http://schemas.microsoft.com/office/drawing/2014/main" id="{FB6536F0-4A9C-46C9-96E9-22CBB33E6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DFD6A33A-F889-42D7-ADC2-DD9B88DF0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C375AFD7-9E86-4D19-B86E-C936D33B0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Graphic 78">
                <a:extLst>
                  <a:ext uri="{FF2B5EF4-FFF2-40B4-BE49-F238E27FC236}">
                    <a16:creationId xmlns:a16="http://schemas.microsoft.com/office/drawing/2014/main" id="{4102C78E-31A2-4DB3-8790-415EB0B48A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4F3E144D-8167-438A-B67F-50F5D9C0C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Graphic 78">
                <a:extLst>
                  <a:ext uri="{FF2B5EF4-FFF2-40B4-BE49-F238E27FC236}">
                    <a16:creationId xmlns:a16="http://schemas.microsoft.com/office/drawing/2014/main" id="{4BE2135F-02C1-449F-B195-232E9AFDD6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48549-0E30-A775-06EB-7ADB1390F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481" y="1123162"/>
            <a:ext cx="4159233" cy="1396237"/>
          </a:xfrm>
        </p:spPr>
        <p:txBody>
          <a:bodyPr>
            <a:normAutofit/>
          </a:bodyPr>
          <a:lstStyle/>
          <a:p>
            <a:r>
              <a:rPr lang="en-US" sz="7200" b="1" dirty="0"/>
              <a:t>Bye-Bye</a:t>
            </a:r>
          </a:p>
        </p:txBody>
      </p:sp>
      <p:pic>
        <p:nvPicPr>
          <p:cNvPr id="5" name="Picture 4" descr="Bridge and cityscape">
            <a:extLst>
              <a:ext uri="{FF2B5EF4-FFF2-40B4-BE49-F238E27FC236}">
                <a16:creationId xmlns:a16="http://schemas.microsoft.com/office/drawing/2014/main" id="{B6C716F7-ED15-F374-E08F-96893F30DD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291" b="30647"/>
          <a:stretch/>
        </p:blipFill>
        <p:spPr>
          <a:xfrm>
            <a:off x="20" y="2865265"/>
            <a:ext cx="12191980" cy="399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20971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AnalogousFromRegularSeedRightStep">
      <a:dk1>
        <a:srgbClr val="000000"/>
      </a:dk1>
      <a:lt1>
        <a:srgbClr val="FFFFFF"/>
      </a:lt1>
      <a:dk2>
        <a:srgbClr val="3A3621"/>
      </a:dk2>
      <a:lt2>
        <a:srgbClr val="E2E5E8"/>
      </a:lt2>
      <a:accent1>
        <a:srgbClr val="E77B29"/>
      </a:accent1>
      <a:accent2>
        <a:srgbClr val="B9A014"/>
      </a:accent2>
      <a:accent3>
        <a:srgbClr val="88AD1F"/>
      </a:accent3>
      <a:accent4>
        <a:srgbClr val="49BA14"/>
      </a:accent4>
      <a:accent5>
        <a:srgbClr val="21BC31"/>
      </a:accent5>
      <a:accent6>
        <a:srgbClr val="14BA6A"/>
      </a:accent6>
      <a:hlink>
        <a:srgbClr val="3F88BF"/>
      </a:hlink>
      <a:folHlink>
        <a:srgbClr val="7F7F7F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1280</Words>
  <Application>Microsoft Office PowerPoint</Application>
  <PresentationFormat>Widescreen</PresentationFormat>
  <Paragraphs>86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Avenir Next LT Pro</vt:lpstr>
      <vt:lpstr>Avenir Next LT Pro Light</vt:lpstr>
      <vt:lpstr>Georgia Pro Semibold</vt:lpstr>
      <vt:lpstr>RocaVTI</vt:lpstr>
      <vt:lpstr>Data warehousing Project</vt:lpstr>
      <vt:lpstr>Content: </vt:lpstr>
      <vt:lpstr>1. Introduction: The "Business Case"</vt:lpstr>
      <vt:lpstr>2. The Data Architecture (The "How")</vt:lpstr>
      <vt:lpstr>PowerPoint Presentation</vt:lpstr>
      <vt:lpstr>3. The Data Model (The "Logic")</vt:lpstr>
      <vt:lpstr>A. The Central Fact Table: dwh_fact_orders</vt:lpstr>
      <vt:lpstr>B. The Dimension Tables (The Descriptive Entities)</vt:lpstr>
      <vt:lpstr>C. Relationship Logic &amp; Schema Integrity</vt:lpstr>
      <vt:lpstr>4. Analysis &amp; Power BI (The "Insight“)</vt:lpstr>
      <vt:lpstr>A. Core Metrics.</vt:lpstr>
      <vt:lpstr>B. Visual Analysis &amp; Behavioral Trends</vt:lpstr>
      <vt:lpstr>C. Operational &amp; Payment Analysis</vt:lpstr>
      <vt:lpstr>D. Operational Efficiency &amp; Behavior</vt:lpstr>
      <vt:lpstr>Screens from Our Project.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 Conclusion &amp; Value.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Endocrine System Questions </dc:title>
  <dc:creator>Fady Emad Abdallah Mekhaeel</dc:creator>
  <cp:lastModifiedBy>Fady Abdallah Mikhaeel</cp:lastModifiedBy>
  <cp:revision>4</cp:revision>
  <dcterms:created xsi:type="dcterms:W3CDTF">2023-05-04T19:19:36Z</dcterms:created>
  <dcterms:modified xsi:type="dcterms:W3CDTF">2026-01-02T15:20:05Z</dcterms:modified>
</cp:coreProperties>
</file>